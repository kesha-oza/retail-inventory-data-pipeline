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82979-0415-4F66-A4C5-B1864EFBAFE5}" v="7" dt="2026-04-01T14:41:42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koza90210@gmail.com" userId="9d53b8651bab0e02" providerId="LiveId" clId="{F99070D4-0EC4-40BF-9298-F753368A74B3}"/>
    <pc:docChg chg="undo custSel addSld delSld modSld">
      <pc:chgData name="kkoza90210@gmail.com" userId="9d53b8651bab0e02" providerId="LiveId" clId="{F99070D4-0EC4-40BF-9298-F753368A74B3}" dt="2026-04-01T14:40:05.523" v="953"/>
      <pc:docMkLst>
        <pc:docMk/>
      </pc:docMkLst>
      <pc:sldChg chg="modSp mod">
        <pc:chgData name="kkoza90210@gmail.com" userId="9d53b8651bab0e02" providerId="LiveId" clId="{F99070D4-0EC4-40BF-9298-F753368A74B3}" dt="2026-04-01T14:40:05.523" v="953"/>
        <pc:sldMkLst>
          <pc:docMk/>
          <pc:sldMk cId="0" sldId="256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6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4-01T14:40:05.523" v="953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kkoza90210@gmail.com" userId="9d53b8651bab0e02" providerId="LiveId" clId="{F99070D4-0EC4-40BF-9298-F753368A74B3}" dt="2026-03-24T16:18:39.775" v="910"/>
        <pc:sldMkLst>
          <pc:docMk/>
          <pc:sldMk cId="0" sldId="257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kkoza90210@gmail.com" userId="9d53b8651bab0e02" providerId="LiveId" clId="{F99070D4-0EC4-40BF-9298-F753368A74B3}" dt="2026-03-24T16:18:39.775" v="910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koza90210@gmail.com" userId="9d53b8651bab0e02" providerId="LiveId" clId="{F99070D4-0EC4-40BF-9298-F753368A74B3}" dt="2026-03-24T16:18:39.775" v="910"/>
        <pc:sldMkLst>
          <pc:docMk/>
          <pc:sldMk cId="0" sldId="258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8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39.775" v="910"/>
        <pc:sldMkLst>
          <pc:docMk/>
          <pc:sldMk cId="0" sldId="259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9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 setBg delDesignElem">
        <pc:chgData name="kkoza90210@gmail.com" userId="9d53b8651bab0e02" providerId="LiveId" clId="{F99070D4-0EC4-40BF-9298-F753368A74B3}" dt="2026-03-24T16:13:09.319" v="866"/>
        <pc:sldMkLst>
          <pc:docMk/>
          <pc:sldMk cId="0" sldId="260"/>
        </pc:sldMkLst>
        <pc:spChg chg="mod">
          <ac:chgData name="kkoza90210@gmail.com" userId="9d53b8651bab0e02" providerId="LiveId" clId="{F99070D4-0EC4-40BF-9298-F753368A74B3}" dt="2026-03-24T16:11:22.729" v="862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1:22.729" v="862" actId="2660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39.775" v="910"/>
        <pc:sldMkLst>
          <pc:docMk/>
          <pc:sldMk cId="0" sldId="261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1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39.775" v="910"/>
        <pc:sldMkLst>
          <pc:docMk/>
          <pc:sldMk cId="0" sldId="262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2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 setBg delDesignElem">
        <pc:chgData name="kkoza90210@gmail.com" userId="9d53b8651bab0e02" providerId="LiveId" clId="{F99070D4-0EC4-40BF-9298-F753368A74B3}" dt="2026-03-24T16:13:09.319" v="866"/>
        <pc:sldMkLst>
          <pc:docMk/>
          <pc:sldMk cId="0" sldId="263"/>
        </pc:sldMkLst>
        <pc:spChg chg="mod">
          <ac:chgData name="kkoza90210@gmail.com" userId="9d53b8651bab0e02" providerId="LiveId" clId="{F99070D4-0EC4-40BF-9298-F753368A74B3}" dt="2026-03-24T16:12:01.505" v="863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2:01.505" v="863" actId="2660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05.728" v="909"/>
        <pc:sldMkLst>
          <pc:docMk/>
          <pc:sldMk cId="0" sldId="264"/>
        </pc:sldMkLst>
        <pc:spChg chg="mod">
          <ac:chgData name="kkoza90210@gmail.com" userId="9d53b8651bab0e02" providerId="LiveId" clId="{F99070D4-0EC4-40BF-9298-F753368A74B3}" dt="2026-03-24T16:09:38.441" v="847"/>
          <ac:spMkLst>
            <pc:docMk/>
            <pc:sldMk cId="0" sldId="264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05.728" v="909"/>
          <ac:spMkLst>
            <pc:docMk/>
            <pc:sldMk cId="0" sldId="264"/>
            <ac:spMk id="3" creationId="{00000000-0000-0000-0000-000000000000}"/>
          </ac:spMkLst>
        </pc:spChg>
        <pc:picChg chg="mod">
          <ac:chgData name="kkoza90210@gmail.com" userId="9d53b8651bab0e02" providerId="LiveId" clId="{F99070D4-0EC4-40BF-9298-F753368A74B3}" dt="2026-03-24T15:49:29.128" v="349" actId="1076"/>
          <ac:picMkLst>
            <pc:docMk/>
            <pc:sldMk cId="0" sldId="264"/>
            <ac:picMk id="5" creationId="{3FEF39DF-0230-EC28-675E-6E3D06C5604E}"/>
          </ac:picMkLst>
        </pc:picChg>
      </pc:sldChg>
      <pc:sldChg chg="addSp modSp mod">
        <pc:chgData name="kkoza90210@gmail.com" userId="9d53b8651bab0e02" providerId="LiveId" clId="{F99070D4-0EC4-40BF-9298-F753368A74B3}" dt="2026-03-24T15:51:48.475" v="365" actId="14100"/>
        <pc:sldMkLst>
          <pc:docMk/>
          <pc:sldMk cId="0" sldId="265"/>
        </pc:sldMkLst>
        <pc:spChg chg="mod">
          <ac:chgData name="kkoza90210@gmail.com" userId="9d53b8651bab0e02" providerId="LiveId" clId="{F99070D4-0EC4-40BF-9298-F753368A74B3}" dt="2026-03-24T15:51:48.475" v="365" actId="14100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39.775" v="910"/>
        <pc:sldMkLst>
          <pc:docMk/>
          <pc:sldMk cId="0" sldId="266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6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8:39.775" v="910"/>
        <pc:sldMkLst>
          <pc:docMk/>
          <pc:sldMk cId="0" sldId="267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7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kkoza90210@gmail.com" userId="9d53b8651bab0e02" providerId="LiveId" clId="{F99070D4-0EC4-40BF-9298-F753368A74B3}" dt="2026-03-24T16:19:16.441" v="916" actId="20577"/>
        <pc:sldMkLst>
          <pc:docMk/>
          <pc:sldMk cId="0" sldId="268"/>
        </pc:sldMkLst>
        <pc:spChg chg="mod">
          <ac:chgData name="kkoza90210@gmail.com" userId="9d53b8651bab0e02" providerId="LiveId" clId="{F99070D4-0EC4-40BF-9298-F753368A74B3}" dt="2026-03-24T16:18:39.775" v="910"/>
          <ac:spMkLst>
            <pc:docMk/>
            <pc:sldMk cId="0" sldId="268"/>
            <ac:spMk id="2" creationId="{00000000-0000-0000-0000-000000000000}"/>
          </ac:spMkLst>
        </pc:spChg>
        <pc:spChg chg="mod">
          <ac:chgData name="kkoza90210@gmail.com" userId="9d53b8651bab0e02" providerId="LiveId" clId="{F99070D4-0EC4-40BF-9298-F753368A74B3}" dt="2026-03-24T16:19:16.441" v="916" actId="2057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91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33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53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0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1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8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6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0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2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4505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20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0079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89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91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3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9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Retail Inventory &amp; Lost Sales Analytics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Prepared By: Kesha Oza, Anita Burri</a:t>
            </a:r>
          </a:p>
          <a:p>
            <a:r>
              <a:rPr lang="en-US" dirty="0"/>
              <a:t>YID: Y00878953, Y00869033</a:t>
            </a:r>
            <a:endParaRPr dirty="0"/>
          </a:p>
          <a:p>
            <a:r>
              <a:rPr lang="en-US" dirty="0"/>
              <a:t>Institution Affiliation: Youngstown State University</a:t>
            </a:r>
            <a:endParaRPr dirty="0"/>
          </a:p>
          <a:p>
            <a:r>
              <a:rPr lang="en-US" dirty="0"/>
              <a:t>Course Title: Data Engineering Capstone</a:t>
            </a:r>
          </a:p>
          <a:p>
            <a:r>
              <a:rPr lang="en-US" dirty="0"/>
              <a:t>Faculty Advisor: Dr. Robert Gilliland</a:t>
            </a:r>
          </a:p>
          <a:p>
            <a:r>
              <a:rPr lang="en-US" dirty="0"/>
              <a:t>Course Professor: Dr. Goerge Yu</a:t>
            </a:r>
          </a:p>
          <a:p>
            <a:r>
              <a:rPr lang="en-US" dirty="0"/>
              <a:t>Date: April 17,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Stockouts lead to significant revenue loss in retail</a:t>
            </a:r>
          </a:p>
          <a:p>
            <a:r>
              <a:rPr lang="en-US" dirty="0"/>
              <a:t>Poor inventory planning impacts customer satisfaction</a:t>
            </a:r>
          </a:p>
          <a:p>
            <a:r>
              <a:rPr lang="en-US" dirty="0"/>
              <a:t>Demand fluctuations make inventory management challenging</a:t>
            </a:r>
          </a:p>
          <a:p>
            <a:r>
              <a:rPr lang="en-US" dirty="0"/>
              <a:t>Data analytics helps optimize inventory decisions</a:t>
            </a:r>
          </a:p>
          <a:p>
            <a:r>
              <a:rPr lang="en-US" dirty="0"/>
              <a:t>Data analytics helps optimize inventory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Walmart weekly sales dataset used for analysis</a:t>
            </a:r>
          </a:p>
          <a:p>
            <a:r>
              <a:rPr lang="en-US" dirty="0"/>
              <a:t>Contains store-level and time-based sales data</a:t>
            </a:r>
          </a:p>
          <a:p>
            <a:r>
              <a:rPr lang="en-US" dirty="0"/>
              <a:t>Includes external economic indicators (CPI, fuel price)</a:t>
            </a:r>
          </a:p>
          <a:p>
            <a:r>
              <a:rPr lang="en-US" dirty="0"/>
              <a:t>Covers multiple years of historical data</a:t>
            </a:r>
          </a:p>
          <a:p>
            <a:r>
              <a:rPr lang="en-US" dirty="0"/>
              <a:t>Suitable for trend analysis and demand forecasting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stockouts be detected using sales data?</a:t>
            </a:r>
          </a:p>
          <a:p>
            <a:r>
              <a:rPr lang="en-US" dirty="0"/>
              <a:t>How much revenue is lost due to stockouts?</a:t>
            </a:r>
          </a:p>
          <a:p>
            <a:r>
              <a:rPr lang="en-US" dirty="0"/>
              <a:t>Which stores are most affected by inventory shortages?</a:t>
            </a:r>
          </a:p>
          <a:p>
            <a:r>
              <a:rPr lang="en-US" dirty="0"/>
              <a:t>How can inventory levels be optimized using data?</a:t>
            </a:r>
          </a:p>
          <a:p>
            <a:r>
              <a:rPr lang="en-US" dirty="0"/>
              <a:t>How to transform raw data into actionable insights?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en-US" sz="230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276" y="1059872"/>
            <a:ext cx="4668183" cy="4851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100"/>
              <a:t>Data ingestion into MySQL from Excel dataset</a:t>
            </a:r>
          </a:p>
          <a:p>
            <a:pPr>
              <a:lnSpc>
                <a:spcPct val="90000"/>
              </a:lnSpc>
            </a:pPr>
            <a:r>
              <a:rPr lang="en-US" sz="1100"/>
              <a:t>Data cleaning and transformation using staging layer</a:t>
            </a:r>
          </a:p>
          <a:p>
            <a:pPr>
              <a:lnSpc>
                <a:spcPct val="90000"/>
              </a:lnSpc>
            </a:pPr>
            <a:r>
              <a:rPr lang="en-US" sz="1100"/>
              <a:t>Dimensional modeling using fact and dimension tables</a:t>
            </a:r>
          </a:p>
          <a:p>
            <a:pPr>
              <a:lnSpc>
                <a:spcPct val="90000"/>
              </a:lnSpc>
            </a:pPr>
            <a:r>
              <a:rPr lang="en-US" sz="1100"/>
              <a:t>SQL used for analytical calculations and aggregation</a:t>
            </a:r>
          </a:p>
          <a:p>
            <a:pPr>
              <a:lnSpc>
                <a:spcPct val="90000"/>
              </a:lnSpc>
            </a:pPr>
            <a:r>
              <a:rPr lang="en-US" sz="1100"/>
              <a:t>Power BI used for visualization and reporting</a:t>
            </a:r>
          </a:p>
          <a:p>
            <a:pPr>
              <a:lnSpc>
                <a:spcPct val="90000"/>
              </a:lnSpc>
            </a:pPr>
            <a:r>
              <a:rPr lang="en-US" sz="1100"/>
              <a:t>End-to-end pipeline from raw data to insights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100"/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MySQL (raw_walmart_sales)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        ↓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Staging Layer (stg_sales)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        ↓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Data Model (fact_sales + dimensions)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        ↓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Analytical Views (SQL)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        ↓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100"/>
              <a:t>Power BI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 schema used for efficient data modeling</a:t>
            </a:r>
          </a:p>
          <a:p>
            <a:r>
              <a:rPr lang="en-US" dirty="0"/>
              <a:t>Fact table stores transactional sales data</a:t>
            </a:r>
          </a:p>
          <a:p>
            <a:r>
              <a:rPr lang="fr-FR" dirty="0"/>
              <a:t>Dimension tables provide descriptive attributes</a:t>
            </a:r>
          </a:p>
          <a:p>
            <a:r>
              <a:rPr lang="en-US" dirty="0"/>
              <a:t>Improves query performance and scalability</a:t>
            </a:r>
          </a:p>
          <a:p>
            <a:r>
              <a:rPr lang="en-US" dirty="0"/>
              <a:t>Supports analytical reporting and dashboarding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Inventory = Average Weekly Sales × Weeks of Cover </a:t>
            </a:r>
            <a:r>
              <a:rPr dirty="0"/>
              <a:t>Stockout when inventory ≤ 0</a:t>
            </a:r>
            <a:endParaRPr lang="en-US" dirty="0"/>
          </a:p>
          <a:p>
            <a:r>
              <a:rPr lang="en-US" dirty="0"/>
              <a:t>Inventory simulation based on historical demand</a:t>
            </a:r>
          </a:p>
          <a:p>
            <a:r>
              <a:rPr lang="en-US" dirty="0"/>
              <a:t>Stockout occurs when simulated inventory ≤ 0</a:t>
            </a:r>
          </a:p>
          <a:p>
            <a:r>
              <a:rPr lang="en-US" dirty="0"/>
              <a:t>Lost Sales represent unmet customer demand</a:t>
            </a:r>
          </a:p>
          <a:p>
            <a:r>
              <a:rPr lang="en-US" dirty="0"/>
              <a:t>Helps estimate revenue loss due to stockouts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en-US" sz="2000"/>
              <a:t>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0276" y="1059872"/>
            <a:ext cx="4668183" cy="48513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dirty="0"/>
              <a:t>Data cleaned and transformed using staging table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Created fact and dimension tables in MySQL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Developed analytical SQL views for KPIs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Implemented inventory simulation logic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Used aggregation functions for store-level analysis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Added dynamic parameter for flexible inventory modeling</a:t>
            </a:r>
          </a:p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# Top 10 stores by total sales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	SELECT store_id, ROUND(SUM(weekly_sales), 2) AS 	total_sales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	FROM fact_sales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	GROUP BY store_id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	ORDER BY total_sales DESC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/>
              <a:t>	LIMIT 10;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3132383" cy="1049235"/>
          </a:xfrm>
        </p:spPr>
        <p:txBody>
          <a:bodyPr>
            <a:normAutofit/>
          </a:bodyPr>
          <a:lstStyle/>
          <a:p>
            <a:r>
              <a:rPr lang="en-US"/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015732"/>
            <a:ext cx="3129159" cy="34506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Tested different inventory coverage levels</a:t>
            </a:r>
          </a:p>
          <a:p>
            <a:r>
              <a:rPr lang="en-US" dirty="0"/>
              <a:t>Analyzed impact on stockout frequency</a:t>
            </a:r>
          </a:p>
          <a:p>
            <a:r>
              <a:rPr lang="en-US" dirty="0"/>
              <a:t>Compared lost sales across stores</a:t>
            </a:r>
          </a:p>
          <a:p>
            <a:r>
              <a:rPr lang="en-US" dirty="0"/>
              <a:t>Evaluated store-level performance variations</a:t>
            </a:r>
          </a:p>
          <a:p>
            <a:r>
              <a:rPr lang="en-US" dirty="0"/>
              <a:t>Evaluated store-level performance variations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F39DF-0230-EC28-675E-6E3D06C5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08" y="2015732"/>
            <a:ext cx="3720331" cy="35901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9600F-5F32-70F0-7633-865D5891F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447" y="135437"/>
            <a:ext cx="4081880" cy="2179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80CC3A-426E-BB4E-E3FD-DC896ECF1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447" y="4825998"/>
            <a:ext cx="4081880" cy="2001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0ED412-10D2-C644-9F2F-D60A6AB26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447" y="2363000"/>
            <a:ext cx="4081880" cy="2310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40831"/>
            <a:ext cx="4358523" cy="1573863"/>
          </a:xfrm>
        </p:spPr>
        <p:txBody>
          <a:bodyPr>
            <a:normAutofit/>
          </a:bodyPr>
          <a:lstStyle/>
          <a:p>
            <a:r>
              <a:rPr lang="en-US"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7092"/>
            <a:ext cx="4155117" cy="3881309"/>
          </a:xfrm>
        </p:spPr>
        <p:txBody>
          <a:bodyPr>
            <a:normAutofit/>
          </a:bodyPr>
          <a:lstStyle/>
          <a:p>
            <a:r>
              <a:rPr lang="en-US" sz="1600" dirty="0"/>
              <a:t>Executive Summary for high-level KPIs</a:t>
            </a:r>
          </a:p>
          <a:p>
            <a:r>
              <a:rPr lang="en-US" sz="1600" dirty="0"/>
              <a:t>Trend Analysis for time-based insights</a:t>
            </a:r>
          </a:p>
          <a:p>
            <a:r>
              <a:rPr lang="en-US" sz="1600" dirty="0"/>
              <a:t>Business Insights for decision-making</a:t>
            </a:r>
          </a:p>
          <a:p>
            <a:r>
              <a:rPr lang="en-US" sz="1600" dirty="0"/>
              <a:t>Interactive filters for better exploration</a:t>
            </a:r>
          </a:p>
          <a:p>
            <a:r>
              <a:rPr lang="en-US" sz="1600" dirty="0"/>
              <a:t>Designed for business users and stakeholders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High-demand stores experience frequent stockouts</a:t>
            </a:r>
          </a:p>
          <a:p>
            <a:r>
              <a:rPr lang="en-US" dirty="0"/>
              <a:t>Inventory levels are insufficient for peak demand</a:t>
            </a:r>
          </a:p>
          <a:p>
            <a:r>
              <a:rPr lang="en-US" dirty="0"/>
              <a:t>Lost sales are concentrated in top-performing stores</a:t>
            </a:r>
          </a:p>
          <a:p>
            <a:r>
              <a:rPr lang="en-US" dirty="0"/>
              <a:t>Seasonal trends impact sales performance</a:t>
            </a:r>
          </a:p>
          <a:p>
            <a:r>
              <a:rPr lang="en-US" dirty="0"/>
              <a:t>Data-driven decisions can reduce inventory risks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an end-to-end data pipeline solution</a:t>
            </a:r>
          </a:p>
          <a:p>
            <a:r>
              <a:rPr lang="en-US" dirty="0"/>
              <a:t>Successfully identified stockout risks</a:t>
            </a:r>
          </a:p>
          <a:p>
            <a:r>
              <a:rPr lang="en-US" dirty="0"/>
              <a:t>Estimated lost sales using analytical modeling</a:t>
            </a:r>
          </a:p>
          <a:p>
            <a:r>
              <a:rPr lang="en-US" dirty="0"/>
              <a:t>Built an interactive dashboard for insights</a:t>
            </a:r>
          </a:p>
          <a:p>
            <a:r>
              <a:rPr lang="en-US" dirty="0"/>
              <a:t>Demonstrated integration of SQL and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3872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Kesha Oza</a:t>
            </a:r>
          </a:p>
          <a:p>
            <a:r>
              <a:rPr lang="en-US" dirty="0"/>
              <a:t>SQL data modeling and transformations</a:t>
            </a:r>
          </a:p>
          <a:p>
            <a:r>
              <a:rPr lang="en-US" dirty="0"/>
              <a:t>Power BI dashboard development</a:t>
            </a:r>
          </a:p>
          <a:p>
            <a:r>
              <a:rPr lang="en-US" dirty="0"/>
              <a:t>KPI calculation and analysis</a:t>
            </a:r>
          </a:p>
          <a:p>
            <a:pPr marL="0" indent="0">
              <a:buNone/>
            </a:pPr>
            <a:r>
              <a:rPr lang="en-US" b="1" dirty="0"/>
              <a:t>Anita Burri</a:t>
            </a:r>
          </a:p>
          <a:p>
            <a:r>
              <a:rPr lang="en-US" dirty="0"/>
              <a:t>Data preparation and validation</a:t>
            </a:r>
          </a:p>
          <a:p>
            <a:r>
              <a:rPr lang="en-US" dirty="0"/>
              <a:t>Visualization support and formatting</a:t>
            </a:r>
          </a:p>
          <a:p>
            <a:r>
              <a:rPr lang="en-US" dirty="0"/>
              <a:t>Documentation and report writing 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95</TotalTime>
  <Words>558</Words>
  <Application>Microsoft Office PowerPoint</Application>
  <PresentationFormat>On-screen Show (4:3)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Retail Inventory &amp; Lost Sales Analytics Data Pipeline</vt:lpstr>
      <vt:lpstr>Introduction</vt:lpstr>
      <vt:lpstr>Background</vt:lpstr>
      <vt:lpstr>Problem Statement</vt:lpstr>
      <vt:lpstr>Methodology</vt:lpstr>
      <vt:lpstr>Data Model</vt:lpstr>
      <vt:lpstr>Business Logic</vt:lpstr>
      <vt:lpstr>SQL Implementation</vt:lpstr>
      <vt:lpstr>Experiments</vt:lpstr>
      <vt:lpstr>Dashboard Overview</vt:lpstr>
      <vt:lpstr>Discussion</vt:lpstr>
      <vt:lpstr>Conclusion</vt:lpstr>
      <vt:lpstr>Team Contribution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 O</dc:creator>
  <cp:keywords/>
  <dc:description>generated using python-pptx</dc:description>
  <cp:lastModifiedBy>kkoza90210@gmail.com</cp:lastModifiedBy>
  <cp:revision>2</cp:revision>
  <dcterms:created xsi:type="dcterms:W3CDTF">2013-01-27T09:14:16Z</dcterms:created>
  <dcterms:modified xsi:type="dcterms:W3CDTF">2026-04-01T14:42:02Z</dcterms:modified>
  <cp:category/>
</cp:coreProperties>
</file>